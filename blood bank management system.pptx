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Fredoka" panose="020B0604020202020204" charset="0"/>
      <p:regular r:id="rId10"/>
    </p:embeddedFont>
    <p:embeddedFont>
      <p:font typeface="Gotham Bold" panose="020B0604020202020204" charset="0"/>
      <p:regular r:id="rId11"/>
    </p:embeddedFont>
    <p:embeddedFont>
      <p:font typeface="Gotham Heavy" panose="020B0604020202020204" charset="0"/>
      <p:regular r:id="rId12"/>
    </p:embeddedFont>
    <p:embeddedFont>
      <p:font typeface="Higuen Elegant Serif" panose="020B0604020202020204" charset="-18"/>
      <p:regular r:id="rId13"/>
    </p:embeddedFont>
    <p:embeddedFont>
      <p:font typeface="Trebuchet MS Bold" panose="020B0703020202020204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28700"/>
            <a:ext cx="18288000" cy="8229600"/>
            <a:chOff x="0" y="0"/>
            <a:chExt cx="4816593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167467"/>
            </a:xfrm>
            <a:custGeom>
              <a:avLst/>
              <a:gdLst/>
              <a:ahLst/>
              <a:cxnLst/>
              <a:rect l="l" t="t" r="r" b="b"/>
              <a:pathLst>
                <a:path w="4816592" h="2167467">
                  <a:moveTo>
                    <a:pt x="0" y="0"/>
                  </a:moveTo>
                  <a:lnTo>
                    <a:pt x="4816592" y="0"/>
                  </a:lnTo>
                  <a:lnTo>
                    <a:pt x="4816592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>
                <a:alpha val="7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369429" y="0"/>
            <a:ext cx="5889871" cy="8098573"/>
          </a:xfrm>
          <a:custGeom>
            <a:avLst/>
            <a:gdLst/>
            <a:ahLst/>
            <a:cxnLst/>
            <a:rect l="l" t="t" r="r" b="b"/>
            <a:pathLst>
              <a:path w="5889871" h="8098573">
                <a:moveTo>
                  <a:pt x="0" y="0"/>
                </a:moveTo>
                <a:lnTo>
                  <a:pt x="5889871" y="0"/>
                </a:lnTo>
                <a:lnTo>
                  <a:pt x="5889871" y="8098573"/>
                </a:lnTo>
                <a:lnTo>
                  <a:pt x="0" y="8098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88296" y="5705166"/>
            <a:ext cx="4478166" cy="159747"/>
          </a:xfrm>
          <a:custGeom>
            <a:avLst/>
            <a:gdLst/>
            <a:ahLst/>
            <a:cxnLst/>
            <a:rect l="l" t="t" r="r" b="b"/>
            <a:pathLst>
              <a:path w="4478166" h="159747">
                <a:moveTo>
                  <a:pt x="4478165" y="0"/>
                </a:moveTo>
                <a:lnTo>
                  <a:pt x="0" y="0"/>
                </a:lnTo>
                <a:lnTo>
                  <a:pt x="0" y="159747"/>
                </a:lnTo>
                <a:lnTo>
                  <a:pt x="4478165" y="159747"/>
                </a:lnTo>
                <a:lnTo>
                  <a:pt x="447816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9687" y="6157154"/>
            <a:ext cx="3497580" cy="4114800"/>
          </a:xfrm>
          <a:custGeom>
            <a:avLst/>
            <a:gdLst/>
            <a:ahLst/>
            <a:cxnLst/>
            <a:rect l="l" t="t" r="r" b="b"/>
            <a:pathLst>
              <a:path w="3497580" h="4114800">
                <a:moveTo>
                  <a:pt x="0" y="0"/>
                </a:moveTo>
                <a:lnTo>
                  <a:pt x="3497580" y="0"/>
                </a:lnTo>
                <a:lnTo>
                  <a:pt x="3497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71811" y="3117303"/>
            <a:ext cx="9463567" cy="202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9"/>
              </a:lnSpc>
            </a:pPr>
            <a:r>
              <a:rPr lang="en-US" sz="6399">
                <a:solidFill>
                  <a:srgbClr val="961A18"/>
                </a:solidFill>
                <a:latin typeface="Higuen Elegant Serif"/>
                <a:ea typeface="Higuen Elegant Serif"/>
                <a:cs typeface="Higuen Elegant Serif"/>
                <a:sym typeface="Higuen Elegant Serif"/>
              </a:rPr>
              <a:t>BLOOD BANK MANAGEMENT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350506" y="7898866"/>
            <a:ext cx="18288000" cy="94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9"/>
              </a:lnSpc>
            </a:pPr>
            <a:r>
              <a:rPr lang="en-US" sz="2699" b="1">
                <a:solidFill>
                  <a:srgbClr val="961A18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SUGGULA SRI VISHNUPRIYA (2520030348)</a:t>
            </a:r>
          </a:p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961A18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VUNGARALA MOUKTHIKA(2520030298)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67393" y="2984490"/>
            <a:ext cx="5922755" cy="4921271"/>
          </a:xfrm>
          <a:custGeom>
            <a:avLst/>
            <a:gdLst/>
            <a:ahLst/>
            <a:cxnLst/>
            <a:rect l="l" t="t" r="r" b="b"/>
            <a:pathLst>
              <a:path w="5922755" h="4921271">
                <a:moveTo>
                  <a:pt x="0" y="0"/>
                </a:moveTo>
                <a:lnTo>
                  <a:pt x="5922755" y="0"/>
                </a:lnTo>
                <a:lnTo>
                  <a:pt x="5922755" y="4921270"/>
                </a:lnTo>
                <a:lnTo>
                  <a:pt x="0" y="4921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518138" y="-2460635"/>
            <a:ext cx="5922755" cy="4921271"/>
          </a:xfrm>
          <a:custGeom>
            <a:avLst/>
            <a:gdLst/>
            <a:ahLst/>
            <a:cxnLst/>
            <a:rect l="l" t="t" r="r" b="b"/>
            <a:pathLst>
              <a:path w="5922755" h="4921271">
                <a:moveTo>
                  <a:pt x="0" y="0"/>
                </a:moveTo>
                <a:lnTo>
                  <a:pt x="5922755" y="0"/>
                </a:lnTo>
                <a:lnTo>
                  <a:pt x="5922755" y="4921270"/>
                </a:lnTo>
                <a:lnTo>
                  <a:pt x="0" y="4921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96527" y="525855"/>
            <a:ext cx="10435048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  <a:spcBef>
                <a:spcPct val="0"/>
              </a:spcBef>
            </a:pPr>
            <a:r>
              <a:rPr lang="en-US" sz="8499" b="1">
                <a:solidFill>
                  <a:srgbClr val="C43B58"/>
                </a:solidFill>
                <a:latin typeface="Gotham Bold"/>
                <a:ea typeface="Gotham Bold"/>
                <a:cs typeface="Gotham Bold"/>
                <a:sym typeface="Gotham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81577" y="3377915"/>
            <a:ext cx="15016016" cy="570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928" lvl="1" indent="-323964" algn="l">
              <a:lnSpc>
                <a:spcPts val="375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A Blood Bank Management System is a web based application designed to manage blood donors, blood groups, blood stock, and blood requests efficiently.</a:t>
            </a:r>
          </a:p>
          <a:p>
            <a:pPr marL="647928" lvl="1" indent="-323964" algn="l">
              <a:lnSpc>
                <a:spcPts val="375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It maintains accurate records of donors, recipients, blood units, and transactions.</a:t>
            </a:r>
          </a:p>
          <a:p>
            <a:pPr marL="647928" lvl="1" indent="-323964" algn="l">
              <a:lnSpc>
                <a:spcPts val="375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The system helps track the availability and expiry of blood units.</a:t>
            </a:r>
          </a:p>
          <a:p>
            <a:pPr marL="647928" lvl="1" indent="-323964" algn="l">
              <a:lnSpc>
                <a:spcPts val="375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It reduces manual paperwork and minimizes errors in maintaining blood-bank records.</a:t>
            </a:r>
          </a:p>
          <a:p>
            <a:pPr marL="647928" lvl="1" indent="-323964" algn="l">
              <a:lnSpc>
                <a:spcPts val="375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It enables quick retrieval of information during emergency blood requirements.</a:t>
            </a:r>
          </a:p>
          <a:p>
            <a:pPr marL="647928" lvl="1" indent="-323964" algn="l">
              <a:lnSpc>
                <a:spcPts val="3751"/>
              </a:lnSpc>
              <a:buFont typeface="Arial"/>
              <a:buChar char="•"/>
            </a:pPr>
            <a:r>
              <a:rPr lang="en-US" sz="3001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The main goal is to ensure that the right blood type is available at the right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6434" y="-2254455"/>
            <a:ext cx="6471517" cy="5377242"/>
          </a:xfrm>
          <a:custGeom>
            <a:avLst/>
            <a:gdLst/>
            <a:ahLst/>
            <a:cxnLst/>
            <a:rect l="l" t="t" r="r" b="b"/>
            <a:pathLst>
              <a:path w="6471517" h="5377242">
                <a:moveTo>
                  <a:pt x="0" y="0"/>
                </a:moveTo>
                <a:lnTo>
                  <a:pt x="6471517" y="0"/>
                </a:lnTo>
                <a:lnTo>
                  <a:pt x="6471517" y="5377242"/>
                </a:lnTo>
                <a:lnTo>
                  <a:pt x="0" y="5377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92814" y="683492"/>
            <a:ext cx="8691283" cy="86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4"/>
              </a:lnSpc>
            </a:pPr>
            <a:r>
              <a:rPr lang="en-US" sz="6800" b="1">
                <a:solidFill>
                  <a:srgbClr val="C43B58"/>
                </a:solidFill>
                <a:latin typeface="Gotham Bold"/>
                <a:ea typeface="Gotham Bold"/>
                <a:cs typeface="Gotham Bold"/>
                <a:sym typeface="Gotham Bold"/>
              </a:rPr>
              <a:t>ABSTRACT</a:t>
            </a:r>
          </a:p>
        </p:txBody>
      </p:sp>
      <p:sp>
        <p:nvSpPr>
          <p:cNvPr id="4" name="Freeform 4"/>
          <p:cNvSpPr/>
          <p:nvPr/>
        </p:nvSpPr>
        <p:spPr>
          <a:xfrm rot="-10800000">
            <a:off x="13837050" y="-2254455"/>
            <a:ext cx="6471517" cy="5377242"/>
          </a:xfrm>
          <a:custGeom>
            <a:avLst/>
            <a:gdLst/>
            <a:ahLst/>
            <a:cxnLst/>
            <a:rect l="l" t="t" r="r" b="b"/>
            <a:pathLst>
              <a:path w="6471517" h="5377242">
                <a:moveTo>
                  <a:pt x="0" y="0"/>
                </a:moveTo>
                <a:lnTo>
                  <a:pt x="6471517" y="0"/>
                </a:lnTo>
                <a:lnTo>
                  <a:pt x="6471517" y="5377242"/>
                </a:lnTo>
                <a:lnTo>
                  <a:pt x="0" y="5377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03973" y="2533650"/>
            <a:ext cx="16880053" cy="6724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The Blood Bank Management System is a web-based application developed to simplify and organize the management of blood donors, blood stock, hospital requests, and donation activities. It provides a centralized platform for maintaining donor details and donation history, monitoring blood group availability and expiry dates, managing hospital requests, and organizing blood donation camps.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The system includes modules such as Donor Registration, Blood Stock Management, Hospital Request Management, Camp Management, Cross-Match Records, Reports, and Alerts. Cross-match records help maintain blood compatibility information before blood is issued, while alerts help staff identify important stock conditions and upcoming expiries.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Fredoka"/>
              <a:ea typeface="Fredoka"/>
              <a:cs typeface="Fredoka"/>
              <a:sym typeface="Fredoka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The project demonstrates key DBMS concepts, including tables, primary and foreign keys, relationships, SQL queries, and structured data management. By reducing manual record-keeping and providing quick access to information, the system aims to make blood bank operations more efficient, organized, and reliable, while improving coordination between donors, blood banks, and hospitals.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675749" y="4725422"/>
            <a:ext cx="8141657" cy="6764977"/>
          </a:xfrm>
          <a:custGeom>
            <a:avLst/>
            <a:gdLst/>
            <a:ahLst/>
            <a:cxnLst/>
            <a:rect l="l" t="t" r="r" b="b"/>
            <a:pathLst>
              <a:path w="8141657" h="6764977">
                <a:moveTo>
                  <a:pt x="8141657" y="0"/>
                </a:moveTo>
                <a:lnTo>
                  <a:pt x="0" y="0"/>
                </a:lnTo>
                <a:lnTo>
                  <a:pt x="0" y="6764978"/>
                </a:lnTo>
                <a:lnTo>
                  <a:pt x="8141657" y="6764978"/>
                </a:lnTo>
                <a:lnTo>
                  <a:pt x="814165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71803" y="1137111"/>
            <a:ext cx="10144395" cy="86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4"/>
              </a:lnSpc>
            </a:pPr>
            <a:r>
              <a:rPr lang="en-US" sz="6800" b="1">
                <a:solidFill>
                  <a:srgbClr val="C43B58"/>
                </a:solidFill>
                <a:latin typeface="Gotham Bold"/>
                <a:ea typeface="Gotham Bold"/>
                <a:cs typeface="Gotham Bold"/>
                <a:sym typeface="Gotham Bold"/>
              </a:rPr>
              <a:t>PROBLEM STATEMENT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-2685364"/>
            <a:ext cx="6267149" cy="5207431"/>
          </a:xfrm>
          <a:custGeom>
            <a:avLst/>
            <a:gdLst/>
            <a:ahLst/>
            <a:cxnLst/>
            <a:rect l="l" t="t" r="r" b="b"/>
            <a:pathLst>
              <a:path w="6267149" h="5207431">
                <a:moveTo>
                  <a:pt x="0" y="0"/>
                </a:moveTo>
                <a:lnTo>
                  <a:pt x="6267149" y="0"/>
                </a:lnTo>
                <a:lnTo>
                  <a:pt x="6267149" y="5207432"/>
                </a:lnTo>
                <a:lnTo>
                  <a:pt x="0" y="5207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44825" y="3060931"/>
            <a:ext cx="16808726" cy="504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Traditional blood-bank management often relies on manual records and spreadsheets, making data difficult to maintain.</a:t>
            </a:r>
          </a:p>
          <a:p>
            <a:pPr marL="690881" lvl="1" indent="-345440" algn="l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Finding the availability of a particular blood group can take considerable time.</a:t>
            </a:r>
          </a:p>
          <a:p>
            <a:pPr marL="690881" lvl="1" indent="-345440" algn="l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Manual record-keeping may result in data duplication, errors, and loss of information.</a:t>
            </a:r>
          </a:p>
          <a:p>
            <a:pPr marL="690881" lvl="1" indent="-345440" algn="l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Tracking blood donations, issued units, and available stock becomes difficult as the number of records increases.</a:t>
            </a:r>
          </a:p>
          <a:p>
            <a:pPr marL="690881" lvl="1" indent="-345440" algn="l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It is challenging to monitor blood-unit expiry dates, which can lead to wastage.</a:t>
            </a:r>
          </a:p>
          <a:p>
            <a:pPr marL="690881" lvl="1" indent="-345440" algn="l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A centralized database is required to provide fast, accurate, and reliable blood-bank information.</a:t>
            </a:r>
          </a:p>
        </p:txBody>
      </p:sp>
      <p:sp>
        <p:nvSpPr>
          <p:cNvPr id="6" name="Freeform 6"/>
          <p:cNvSpPr/>
          <p:nvPr/>
        </p:nvSpPr>
        <p:spPr>
          <a:xfrm>
            <a:off x="16266787" y="518658"/>
            <a:ext cx="1985025" cy="2561323"/>
          </a:xfrm>
          <a:custGeom>
            <a:avLst/>
            <a:gdLst/>
            <a:ahLst/>
            <a:cxnLst/>
            <a:rect l="l" t="t" r="r" b="b"/>
            <a:pathLst>
              <a:path w="1985025" h="2561323">
                <a:moveTo>
                  <a:pt x="0" y="0"/>
                </a:moveTo>
                <a:lnTo>
                  <a:pt x="1985026" y="0"/>
                </a:lnTo>
                <a:lnTo>
                  <a:pt x="1985026" y="2561323"/>
                </a:lnTo>
                <a:lnTo>
                  <a:pt x="0" y="2561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241177" y="-2292989"/>
            <a:ext cx="6357198" cy="5282254"/>
          </a:xfrm>
          <a:custGeom>
            <a:avLst/>
            <a:gdLst/>
            <a:ahLst/>
            <a:cxnLst/>
            <a:rect l="l" t="t" r="r" b="b"/>
            <a:pathLst>
              <a:path w="6357198" h="5282254">
                <a:moveTo>
                  <a:pt x="6357198" y="0"/>
                </a:moveTo>
                <a:lnTo>
                  <a:pt x="0" y="0"/>
                </a:lnTo>
                <a:lnTo>
                  <a:pt x="0" y="5282253"/>
                </a:lnTo>
                <a:lnTo>
                  <a:pt x="6357198" y="5282253"/>
                </a:lnTo>
                <a:lnTo>
                  <a:pt x="63571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176082" y="-1203140"/>
            <a:ext cx="3989348" cy="3314786"/>
          </a:xfrm>
          <a:custGeom>
            <a:avLst/>
            <a:gdLst/>
            <a:ahLst/>
            <a:cxnLst/>
            <a:rect l="l" t="t" r="r" b="b"/>
            <a:pathLst>
              <a:path w="3989348" h="3314786">
                <a:moveTo>
                  <a:pt x="3989348" y="0"/>
                </a:moveTo>
                <a:lnTo>
                  <a:pt x="0" y="0"/>
                </a:lnTo>
                <a:lnTo>
                  <a:pt x="0" y="3314786"/>
                </a:lnTo>
                <a:lnTo>
                  <a:pt x="3989348" y="3314786"/>
                </a:lnTo>
                <a:lnTo>
                  <a:pt x="398934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802908" y="683492"/>
            <a:ext cx="10314174" cy="86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4"/>
              </a:lnSpc>
            </a:pPr>
            <a:r>
              <a:rPr lang="en-US" sz="6800" b="1">
                <a:solidFill>
                  <a:srgbClr val="C43B58"/>
                </a:solidFill>
                <a:latin typeface="Gotham Bold"/>
                <a:ea typeface="Gotham Bold"/>
                <a:cs typeface="Gotham Bold"/>
                <a:sym typeface="Gotham Bold"/>
              </a:rPr>
              <a:t>MODULES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C86154B-C8B2-D2AA-8224-BB6B64F3E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621884"/>
              </p:ext>
            </p:extLst>
          </p:nvPr>
        </p:nvGraphicFramePr>
        <p:xfrm>
          <a:off x="1524000" y="2476500"/>
          <a:ext cx="15593082" cy="7543797"/>
        </p:xfrm>
        <a:graphic>
          <a:graphicData uri="http://schemas.openxmlformats.org/drawingml/2006/table">
            <a:tbl>
              <a:tblPr/>
              <a:tblGrid>
                <a:gridCol w="7796541">
                  <a:extLst>
                    <a:ext uri="{9D8B030D-6E8A-4147-A177-3AD203B41FA5}">
                      <a16:colId xmlns:a16="http://schemas.microsoft.com/office/drawing/2014/main" val="195785763"/>
                    </a:ext>
                  </a:extLst>
                </a:gridCol>
                <a:gridCol w="7796541">
                  <a:extLst>
                    <a:ext uri="{9D8B030D-6E8A-4147-A177-3AD203B41FA5}">
                      <a16:colId xmlns:a16="http://schemas.microsoft.com/office/drawing/2014/main" val="524941064"/>
                    </a:ext>
                  </a:extLst>
                </a:gridCol>
              </a:tblGrid>
              <a:tr h="868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Module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Main Functions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350305"/>
                  </a:ext>
                </a:extLst>
              </a:tr>
              <a:tr h="932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1. Donor Management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Donor registration, personal details, blood group, donation history and donor records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920171"/>
                  </a:ext>
                </a:extLst>
              </a:tr>
              <a:tr h="932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2. Blood Stock Management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Track blood groups, available units, collection dates, expiry dates and stock status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610297"/>
                  </a:ext>
                </a:extLst>
              </a:tr>
              <a:tr h="932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3. Hospital Request Management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Hospital registration, blood requests, request processing, approval and issue tracking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69370"/>
                  </a:ext>
                </a:extLst>
              </a:tr>
              <a:tr h="932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4. Blood Donation Camp Management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Create and manage donation camps, camp details, donor participation and collected units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401815"/>
                  </a:ext>
                </a:extLst>
              </a:tr>
              <a:tr h="932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5. Cross-Match Management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Record blood compatibility and cross-match results before issuing blood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456174"/>
                  </a:ext>
                </a:extLst>
              </a:tr>
              <a:tr h="932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6. Reports &amp; Alerts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effectLst/>
                        </a:rPr>
                        <a:t>Stock reports, donor/request reports, low-stock alerts and blood expiry notifications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919523"/>
                  </a:ext>
                </a:extLst>
              </a:tr>
              <a:tr h="1082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effectLst/>
                        </a:rPr>
                        <a:t>7. Database &amp; Security Management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effectLst/>
                        </a:rPr>
                        <a:t>Relational database, keys and relationships, SQL operations, validation, authentication and role-based access</a:t>
                      </a:r>
                    </a:p>
                  </a:txBody>
                  <a:tcPr marL="75774" marR="75774" marT="37887" marB="37887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758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241177" y="-2292989"/>
            <a:ext cx="6357198" cy="5282254"/>
          </a:xfrm>
          <a:custGeom>
            <a:avLst/>
            <a:gdLst/>
            <a:ahLst/>
            <a:cxnLst/>
            <a:rect l="l" t="t" r="r" b="b"/>
            <a:pathLst>
              <a:path w="6357198" h="5282254">
                <a:moveTo>
                  <a:pt x="6357198" y="0"/>
                </a:moveTo>
                <a:lnTo>
                  <a:pt x="0" y="0"/>
                </a:lnTo>
                <a:lnTo>
                  <a:pt x="0" y="5282253"/>
                </a:lnTo>
                <a:lnTo>
                  <a:pt x="6357198" y="5282253"/>
                </a:lnTo>
                <a:lnTo>
                  <a:pt x="63571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176082" y="-1203140"/>
            <a:ext cx="3989348" cy="3314786"/>
          </a:xfrm>
          <a:custGeom>
            <a:avLst/>
            <a:gdLst/>
            <a:ahLst/>
            <a:cxnLst/>
            <a:rect l="l" t="t" r="r" b="b"/>
            <a:pathLst>
              <a:path w="3989348" h="3314786">
                <a:moveTo>
                  <a:pt x="3989348" y="0"/>
                </a:moveTo>
                <a:lnTo>
                  <a:pt x="0" y="0"/>
                </a:lnTo>
                <a:lnTo>
                  <a:pt x="0" y="3314786"/>
                </a:lnTo>
                <a:lnTo>
                  <a:pt x="3989348" y="3314786"/>
                </a:lnTo>
                <a:lnTo>
                  <a:pt x="398934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4350" y="3421953"/>
            <a:ext cx="17259300" cy="302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React.js – Used for developing the frontend and creating different pages/modules of the Blood Bank Management System.</a:t>
            </a:r>
          </a:p>
          <a:p>
            <a:pPr marL="690881" lvl="1" indent="-345440" algn="l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MySQL / SQL – Used for storing, managing, and retrieving donor, blood stock, hospital, and blood request data.</a:t>
            </a:r>
          </a:p>
          <a:p>
            <a:pPr marL="690881" lvl="1" indent="-345440" algn="l">
              <a:lnSpc>
                <a:spcPts val="400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Visual Studio Code – Used as the development environment for coding, managing, and maintaining the project.</a:t>
            </a:r>
          </a:p>
        </p:txBody>
      </p:sp>
      <p:sp>
        <p:nvSpPr>
          <p:cNvPr id="5" name="Freeform 5"/>
          <p:cNvSpPr/>
          <p:nvPr/>
        </p:nvSpPr>
        <p:spPr>
          <a:xfrm>
            <a:off x="13843174" y="6172200"/>
            <a:ext cx="4377447" cy="4114800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44695" y="658940"/>
            <a:ext cx="10314174" cy="930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81"/>
              </a:lnSpc>
            </a:pPr>
            <a:r>
              <a:rPr lang="en-US" sz="7399" b="1">
                <a:solidFill>
                  <a:srgbClr val="C43B58"/>
                </a:solidFill>
                <a:latin typeface="Gotham Bold"/>
                <a:ea typeface="Gotham Bold"/>
                <a:cs typeface="Gotham Bold"/>
                <a:sym typeface="Gotham Bold"/>
              </a:rPr>
              <a:t>SOFTWARE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1356" y="683514"/>
            <a:ext cx="8691283" cy="88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9"/>
              </a:lnSpc>
            </a:pPr>
            <a:r>
              <a:rPr lang="en-US" sz="6999" b="1">
                <a:solidFill>
                  <a:srgbClr val="C43B58"/>
                </a:solidFill>
                <a:latin typeface="Gotham Bold"/>
                <a:ea typeface="Gotham Bold"/>
                <a:cs typeface="Gotham Bold"/>
                <a:sym typeface="Gotham Bold"/>
              </a:rPr>
              <a:t>CONCLUSION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5068113" y="-1627720"/>
            <a:ext cx="6439773" cy="6771220"/>
          </a:xfrm>
          <a:custGeom>
            <a:avLst/>
            <a:gdLst/>
            <a:ahLst/>
            <a:cxnLst/>
            <a:rect l="l" t="t" r="r" b="b"/>
            <a:pathLst>
              <a:path w="6439773" h="6771220">
                <a:moveTo>
                  <a:pt x="6439774" y="0"/>
                </a:moveTo>
                <a:lnTo>
                  <a:pt x="0" y="0"/>
                </a:lnTo>
                <a:lnTo>
                  <a:pt x="0" y="6771220"/>
                </a:lnTo>
                <a:lnTo>
                  <a:pt x="6439774" y="6771220"/>
                </a:lnTo>
                <a:lnTo>
                  <a:pt x="64397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544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567605" y="2203817"/>
            <a:ext cx="5135210" cy="5399513"/>
          </a:xfrm>
          <a:custGeom>
            <a:avLst/>
            <a:gdLst/>
            <a:ahLst/>
            <a:cxnLst/>
            <a:rect l="l" t="t" r="r" b="b"/>
            <a:pathLst>
              <a:path w="5135210" h="5399513">
                <a:moveTo>
                  <a:pt x="5135210" y="0"/>
                </a:moveTo>
                <a:lnTo>
                  <a:pt x="0" y="0"/>
                </a:lnTo>
                <a:lnTo>
                  <a:pt x="0" y="5399513"/>
                </a:lnTo>
                <a:lnTo>
                  <a:pt x="5135210" y="5399513"/>
                </a:lnTo>
                <a:lnTo>
                  <a:pt x="51352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544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842119" y="8728897"/>
            <a:ext cx="1417181" cy="529403"/>
            <a:chOff x="0" y="0"/>
            <a:chExt cx="373249" cy="1394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3249" cy="139431"/>
            </a:xfrm>
            <a:custGeom>
              <a:avLst/>
              <a:gdLst/>
              <a:ahLst/>
              <a:cxnLst/>
              <a:rect l="l" t="t" r="r" b="b"/>
              <a:pathLst>
                <a:path w="373249" h="139431">
                  <a:moveTo>
                    <a:pt x="0" y="0"/>
                  </a:moveTo>
                  <a:lnTo>
                    <a:pt x="373249" y="0"/>
                  </a:lnTo>
                  <a:lnTo>
                    <a:pt x="373249" y="139431"/>
                  </a:lnTo>
                  <a:lnTo>
                    <a:pt x="0" y="139431"/>
                  </a:lnTo>
                  <a:close/>
                </a:path>
              </a:pathLst>
            </a:custGeom>
            <a:solidFill>
              <a:srgbClr val="C43B5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73249" cy="187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028700"/>
            <a:ext cx="1417181" cy="529403"/>
            <a:chOff x="0" y="0"/>
            <a:chExt cx="373249" cy="1394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3249" cy="139431"/>
            </a:xfrm>
            <a:custGeom>
              <a:avLst/>
              <a:gdLst/>
              <a:ahLst/>
              <a:cxnLst/>
              <a:rect l="l" t="t" r="r" b="b"/>
              <a:pathLst>
                <a:path w="373249" h="139431">
                  <a:moveTo>
                    <a:pt x="0" y="0"/>
                  </a:moveTo>
                  <a:lnTo>
                    <a:pt x="373249" y="0"/>
                  </a:lnTo>
                  <a:lnTo>
                    <a:pt x="373249" y="139431"/>
                  </a:lnTo>
                  <a:lnTo>
                    <a:pt x="0" y="139431"/>
                  </a:lnTo>
                  <a:close/>
                </a:path>
              </a:pathLst>
            </a:custGeom>
            <a:solidFill>
              <a:srgbClr val="C43B5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73249" cy="187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45881" y="3328509"/>
            <a:ext cx="13444314" cy="4443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endParaRPr/>
          </a:p>
          <a:p>
            <a:pPr marL="604515" lvl="1" indent="-302257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The Blood Bank Management System provides a centralized and organized way to manage donors, blood stock, hospital requests, and donations.</a:t>
            </a:r>
          </a:p>
          <a:p>
            <a:pPr marL="604515" lvl="1" indent="-302257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It reduces manual record-keeping and errors through structured database management.</a:t>
            </a:r>
          </a:p>
          <a:p>
            <a:pPr marL="604515" lvl="1" indent="-302257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Features like cross-matching, alerts, and reports improve blood availability and coordination.</a:t>
            </a:r>
          </a:p>
          <a:p>
            <a:pPr marL="604515" lvl="1" indent="-302257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Overall, the system helps make blood bank operations faster, reliable, and efficient.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21593" y="2881287"/>
            <a:ext cx="12129000" cy="2028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58"/>
              </a:lnSpc>
            </a:pPr>
            <a:r>
              <a:rPr lang="en-US" sz="14106" b="1">
                <a:solidFill>
                  <a:srgbClr val="C43B58"/>
                </a:solidFill>
                <a:latin typeface="Gotham Heavy"/>
                <a:ea typeface="Gotham Heavy"/>
                <a:cs typeface="Gotham Heavy"/>
                <a:sym typeface="Gotham Heavy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3142771" y="4200266"/>
            <a:ext cx="7325391" cy="6086734"/>
          </a:xfrm>
          <a:custGeom>
            <a:avLst/>
            <a:gdLst/>
            <a:ahLst/>
            <a:cxnLst/>
            <a:rect l="l" t="t" r="r" b="b"/>
            <a:pathLst>
              <a:path w="7325391" h="6086734">
                <a:moveTo>
                  <a:pt x="7325391" y="0"/>
                </a:moveTo>
                <a:lnTo>
                  <a:pt x="0" y="0"/>
                </a:lnTo>
                <a:lnTo>
                  <a:pt x="0" y="6086734"/>
                </a:lnTo>
                <a:lnTo>
                  <a:pt x="7325391" y="6086734"/>
                </a:lnTo>
                <a:lnTo>
                  <a:pt x="732539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3287149" y="5124450"/>
            <a:ext cx="8190066" cy="0"/>
          </a:xfrm>
          <a:prstGeom prst="line">
            <a:avLst/>
          </a:prstGeom>
          <a:ln w="38100" cap="flat">
            <a:solidFill>
              <a:srgbClr val="C43B5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-9228957" y="1028700"/>
            <a:ext cx="10850550" cy="11409014"/>
          </a:xfrm>
          <a:custGeom>
            <a:avLst/>
            <a:gdLst/>
            <a:ahLst/>
            <a:cxnLst/>
            <a:rect l="l" t="t" r="r" b="b"/>
            <a:pathLst>
              <a:path w="10850550" h="11409014">
                <a:moveTo>
                  <a:pt x="0" y="0"/>
                </a:moveTo>
                <a:lnTo>
                  <a:pt x="10850550" y="0"/>
                </a:lnTo>
                <a:lnTo>
                  <a:pt x="10850550" y="11409014"/>
                </a:lnTo>
                <a:lnTo>
                  <a:pt x="0" y="114090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26544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949020" y="1028700"/>
            <a:ext cx="1571231" cy="486449"/>
            <a:chOff x="0" y="0"/>
            <a:chExt cx="413822" cy="1281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3822" cy="128118"/>
            </a:xfrm>
            <a:custGeom>
              <a:avLst/>
              <a:gdLst/>
              <a:ahLst/>
              <a:cxnLst/>
              <a:rect l="l" t="t" r="r" b="b"/>
              <a:pathLst>
                <a:path w="413822" h="128118">
                  <a:moveTo>
                    <a:pt x="0" y="0"/>
                  </a:moveTo>
                  <a:lnTo>
                    <a:pt x="413822" y="0"/>
                  </a:lnTo>
                  <a:lnTo>
                    <a:pt x="413822" y="128118"/>
                  </a:lnTo>
                  <a:lnTo>
                    <a:pt x="0" y="128118"/>
                  </a:lnTo>
                  <a:close/>
                </a:path>
              </a:pathLst>
            </a:custGeom>
            <a:solidFill>
              <a:srgbClr val="C43B5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13822" cy="175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5918" y="8771851"/>
            <a:ext cx="1571231" cy="486449"/>
            <a:chOff x="0" y="0"/>
            <a:chExt cx="413822" cy="1281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3822" cy="128118"/>
            </a:xfrm>
            <a:custGeom>
              <a:avLst/>
              <a:gdLst/>
              <a:ahLst/>
              <a:cxnLst/>
              <a:rect l="l" t="t" r="r" b="b"/>
              <a:pathLst>
                <a:path w="413822" h="128118">
                  <a:moveTo>
                    <a:pt x="0" y="0"/>
                  </a:moveTo>
                  <a:lnTo>
                    <a:pt x="413822" y="0"/>
                  </a:lnTo>
                  <a:lnTo>
                    <a:pt x="413822" y="128118"/>
                  </a:lnTo>
                  <a:lnTo>
                    <a:pt x="0" y="128118"/>
                  </a:lnTo>
                  <a:close/>
                </a:path>
              </a:pathLst>
            </a:custGeom>
            <a:solidFill>
              <a:srgbClr val="C43B5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13822" cy="175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Custom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Fredoka</vt:lpstr>
      <vt:lpstr>Higuen Elegant Serif</vt:lpstr>
      <vt:lpstr>Arial</vt:lpstr>
      <vt:lpstr>Gotham Heavy</vt:lpstr>
      <vt:lpstr>Trebuchet MS Bold</vt:lpstr>
      <vt:lpstr>Calibri</vt:lpstr>
      <vt:lpstr>Gotham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bank management system</dc:title>
  <cp:lastModifiedBy>suggula sri vishnupriya</cp:lastModifiedBy>
  <cp:revision>2</cp:revision>
  <dcterms:created xsi:type="dcterms:W3CDTF">2006-08-16T00:00:00Z</dcterms:created>
  <dcterms:modified xsi:type="dcterms:W3CDTF">2026-08-22T06:40:08Z</dcterms:modified>
  <dc:identifier>DAHSKFEKsoI</dc:identifier>
</cp:coreProperties>
</file>